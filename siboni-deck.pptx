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4ED8"/>
                </a:solidFill>
              </a:rPr>
              <a:t>SiBoNi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CXO COCKPIT  ·  EXECUTIVE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F172A"/>
                </a:solidFill>
              </a:rPr>
              <a:t>Decisions at the Speed of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402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SiBoNi connects every enterprise system — ERP, CRM, HR, IoT, market feeds — synthesises signals through always-on AI and delivers executive-grade intelligence to the CEO's morning view. In real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265176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41071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</a:rPr>
              <a:t>9+ MCP
Connectors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3291840"/>
            <a:ext cx="2651760" cy="96012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41071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D28D9"/>
                </a:solidFill>
              </a:rPr>
              <a:t>AI-Synthesised
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91840"/>
            <a:ext cx="2651760" cy="9601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41071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Real-Time
Decision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3291840"/>
            <a:ext cx="265176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341071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</a:rPr>
              <a:t>Analyst → CEO
Intelligence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Manufacturing · Industrial · Multi-plant · Multi-region  ·  Built on MCP Open Standard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From raw enterprise data to executive decision — in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417320" cy="1554480"/>
          </a:xfrm>
          <a:prstGeom prst="rect">
            <a:avLst/>
          </a:prstGeom>
          <a:solidFill>
            <a:srgbClr val="DBEAFE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188720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</a:rPr>
              <a:t>Enterprise
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627632"/>
            <a:ext cx="1289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A5E"/>
                </a:solidFill>
              </a:rPr>
              <a:t>SAP ERP · CRM
Workday · IoT
Reuters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9072" y="1764792"/>
            <a:ext cx="146304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2807" y="1143000"/>
            <a:ext cx="1417320" cy="1554480"/>
          </a:xfrm>
          <a:prstGeom prst="rect">
            <a:avLst/>
          </a:prstGeom>
          <a:solidFill>
            <a:srgbClr val="EDE9FE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56815" y="1188720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D28D9"/>
                </a:solidFill>
              </a:rPr>
              <a:t>MCP
Connectors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5" y="1627632"/>
            <a:ext cx="1289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A5E"/>
                </a:solidFill>
              </a:rPr>
              <a:t>Unified API
Real-time sync
Auth &amp; governance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764792"/>
            <a:ext cx="146304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1296" y="1143000"/>
            <a:ext cx="1417320" cy="1554480"/>
          </a:xfrm>
          <a:prstGeom prst="rect">
            <a:avLst/>
          </a:prstGeom>
          <a:solidFill>
            <a:srgbClr val="E0F2FE"/>
          </a:solidFill>
          <a:ln w="15875">
            <a:solidFill>
              <a:srgbClr val="027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3" y="1188720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7995"/>
                </a:solidFill>
              </a:rPr>
              <a:t>Normalise
&amp; Enrich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3" y="1627632"/>
            <a:ext cx="1289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A5E"/>
                </a:solidFill>
              </a:rPr>
              <a:t>KPI compute
Anomaly detect
Signal scoring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6048" y="1764792"/>
            <a:ext cx="146304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9784" y="1143000"/>
            <a:ext cx="1417320" cy="1554480"/>
          </a:xfrm>
          <a:prstGeom prst="rect">
            <a:avLst/>
          </a:prstGeom>
          <a:solidFill>
            <a:srgbClr val="FEF3C7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1188720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AI Synthesis
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1627632"/>
            <a:ext cx="1289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A5E"/>
                </a:solidFill>
              </a:rPr>
              <a:t>System prompts
Analyst prompts
Confidence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74536" y="1764792"/>
            <a:ext cx="146304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48272" y="1143000"/>
            <a:ext cx="1417320" cy="1554480"/>
          </a:xfrm>
          <a:prstGeom prst="rect">
            <a:avLst/>
          </a:prstGeom>
          <a:solidFill>
            <a:srgbClr val="D1FAE5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188720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Decision
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627632"/>
            <a:ext cx="1289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A5E"/>
                </a:solidFill>
              </a:rPr>
              <a:t>Ranked decisions
Evidence bundles
Impact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3" y="1764792"/>
            <a:ext cx="146304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1143000"/>
            <a:ext cx="1417320" cy="1554480"/>
          </a:xfrm>
          <a:prstGeom prst="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1188720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CEO
Cockpit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1627632"/>
            <a:ext cx="1289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A5E"/>
                </a:solidFill>
              </a:rPr>
              <a:t>Insights Hub
Decision Hub
Board Brief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11512" y="1764792"/>
            <a:ext cx="146304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85248" y="1143000"/>
            <a:ext cx="1417320" cy="1554480"/>
          </a:xfrm>
          <a:prstGeom prst="rect">
            <a:avLst/>
          </a:prstGeom>
          <a:solidFill>
            <a:srgbClr val="D1FAE5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1188720"/>
            <a:ext cx="1289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Execution
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9256" y="1627632"/>
            <a:ext cx="12893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A5E"/>
                </a:solidFill>
              </a:rPr>
              <a:t>Action tracking
KPI feedback
Board reporting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926080"/>
            <a:ext cx="116403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999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LATENCY PROFILE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29992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Data 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200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1–15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29992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AI synthesis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3200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&lt; 2 sec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79" y="29992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Analyst→CEO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79" y="3200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Instant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29992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Board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200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28D9"/>
                </a:solidFill>
              </a:rPr>
              <a:t>1-click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29992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Decision→Action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200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Same session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MCP Connector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Model Context Protocol — live context from every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0972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521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SAP S/4HANA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990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Orders · Inventory · Production · GL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1521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9669"/>
                </a:solidFill>
              </a:rPr>
              <a:t>42,800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45336"/>
            <a:ext cx="47548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563624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097280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335024"/>
            <a:ext cx="10972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1521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Salesforce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3990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Accounts · Opps · Cases · NPS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11521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9669"/>
                </a:solidFill>
              </a:rPr>
              <a:t>18,400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545336"/>
            <a:ext cx="47548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563624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1097280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4" y="1335024"/>
            <a:ext cx="10972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11521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Workday HR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13990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Headcount · Skills ·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44784" y="11521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9669"/>
                </a:solidFill>
              </a:rPr>
              <a:t>3,200 records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84464" y="1545336"/>
            <a:ext cx="47548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563624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856231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093976"/>
            <a:ext cx="10972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191109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Reuters Newsfeed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1579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Market · Supply Chain · Regulatory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191109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9669"/>
                </a:solidFill>
              </a:rPr>
              <a:t>1,240 signals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304287"/>
            <a:ext cx="47548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2322575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33672" y="1856231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5112" y="2093976"/>
            <a:ext cx="10972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7992" y="191109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Bloomberg 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21579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FX · Commodities · Indices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432" y="191109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9669"/>
                </a:solidFill>
              </a:rPr>
              <a:t>580 tickers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5112" y="2304287"/>
            <a:ext cx="47548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1688" y="2322575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93024" y="1856231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84464" y="2093976"/>
            <a:ext cx="10972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67344" y="191109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Microsoft Exchange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7344" y="21579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Email intelligence · Sentiment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44784" y="191109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9669"/>
                </a:solidFill>
              </a:rPr>
              <a:t>89,000 msgs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84464" y="2304287"/>
            <a:ext cx="47548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2322575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615184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2852928"/>
            <a:ext cx="10972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6700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Microsoft Teams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29169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Meeting summaries · 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26700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9669"/>
                </a:solidFill>
              </a:rPr>
              <a:t>480 meetings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063239"/>
            <a:ext cx="47548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2336" y="3081527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33672" y="2615184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25112" y="2852928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07992" y="26700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Plant IoT Sensors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7992" y="29169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OEE · Machine uptime · Cycle time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85432" y="26700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97706"/>
                </a:solidFill>
              </a:rPr>
              <a:t>3 plants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5112" y="3063239"/>
            <a:ext cx="475488" cy="20116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61688" y="3081527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D97706"/>
                </a:solidFill>
              </a:rPr>
              <a:t>BETA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93024" y="2615184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84464" y="2852928"/>
            <a:ext cx="10972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67344" y="26700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Competitor Monitor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67344" y="29169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Pricing · Launches · Patents · Jobs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44784" y="26700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9669"/>
                </a:solidFill>
              </a:rPr>
              <a:t>284 items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84464" y="3063239"/>
            <a:ext cx="47548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3081527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374135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5760" y="3611879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342899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Oracle Financials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3675887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GL · AR · AP · Budget vs Actual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26080" y="342899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</a:rPr>
              <a:t>Q2 2026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3822191"/>
            <a:ext cx="681228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2336" y="3840479"/>
            <a:ext cx="6080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64748B"/>
                </a:solidFill>
              </a:rPr>
              <a:t>PLANNED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33672" y="3374135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325112" y="3611879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07992" y="342899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ServiceNow ITSM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07992" y="3675887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Incidents · Change · Risk register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85432" y="342899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</a:rPr>
              <a:t>Q2 2026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25112" y="3822191"/>
            <a:ext cx="681228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61688" y="3840479"/>
            <a:ext cx="6080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64748B"/>
                </a:solidFill>
              </a:rPr>
              <a:t>PLANNED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93024" y="3374135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284464" y="3611879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67344" y="342899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Jira / Confluence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67344" y="3675887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Projects · Delivery risk · Docs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44784" y="342899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</a:rPr>
              <a:t>Q3 2026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84464" y="3822191"/>
            <a:ext cx="681228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21040" y="3840479"/>
            <a:ext cx="6080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64748B"/>
                </a:solidFill>
              </a:rPr>
              <a:t>PLANNED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Role-Based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One platform. Three specialised experiences. Zero information overload.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3657600" cy="53949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3657600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97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CEO / C-Suite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4081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Strategic Command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20824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38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Insights Hub — KPI-driven morning view with AI narrative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706624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6243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Analyst Intelligence — analyst insights surface directly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3392424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3101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Decision Hub — COMMIT / HOLD with evidence bundles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4078224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9959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Board Brief — 1-click auto-generated board pack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764024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6817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Snap &amp; Share — snapshot any view, download as PDF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5449824"/>
            <a:ext cx="914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367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Execution Hub — track decisions through to outcome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8807" y="1078992"/>
            <a:ext cx="3657600" cy="5394960"/>
          </a:xfrm>
          <a:prstGeom prst="rect">
            <a:avLst/>
          </a:prstGeom>
          <a:solidFill>
            <a:srgbClr val="EDE9FE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78807" y="1078992"/>
            <a:ext cx="3657600" cy="65836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1097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Senior 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14081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Intelligence Bridge  ★ THE DIFFERENTIATOR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399" y="2020824"/>
            <a:ext cx="9144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79" y="1938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Analyst Studio — natural language over live data feeds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399" y="2706624"/>
            <a:ext cx="9144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79" y="26243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AI Insight Generation — question → structured insight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399" y="3392424"/>
            <a:ext cx="9144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79" y="33101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Share with CEO — push insight to CEO view. No email.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399" y="4078224"/>
            <a:ext cx="9144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79" y="39959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Prompt Library — save &amp; reuse intelligence templates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399" y="4764024"/>
            <a:ext cx="9144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79" y="46817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Recall Control — recall shared insight any 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399" y="5449824"/>
            <a:ext cx="9144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79" y="5367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Full Signals Access — annotate, verify, link to decisions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83296" y="1078992"/>
            <a:ext cx="3657600" cy="5394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83296" y="1078992"/>
            <a:ext cx="365760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6" y="1097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Platform 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14081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System Command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47888" y="2020824"/>
            <a:ext cx="914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8" y="1938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Data Connections — manage all 9+ MCP connectors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47888" y="2706624"/>
            <a:ext cx="914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26243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System Prompts — configure &amp; schedule AI auto-runs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47888" y="3392424"/>
            <a:ext cx="914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0768" y="33101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Audit Log — every action tracked with full history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47888" y="4078224"/>
            <a:ext cx="914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0768" y="39959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User Management — RBAC, roles, permissions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47888" y="4764024"/>
            <a:ext cx="914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0768" y="46817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Prompt Scheduler — 15min / hourly / daily / weekly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47888" y="5449824"/>
            <a:ext cx="914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30768" y="5367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Security Controls — data gating, ISO 27001 aligned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The CEO's Morning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Marcus Gaksh opens his laptop at 7am — here is what he sees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9496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ANALYST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44752"/>
            <a:ext cx="512064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90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Supply Chain Risk &amp; Exposure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7 active risks · $3.1M exposure · Titanium lead slip 18 days
Shared by Arjun Mehta · 09:14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12848"/>
            <a:ext cx="406907" cy="20116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231136"/>
            <a:ext cx="33375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NEW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212848"/>
            <a:ext cx="1024127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2231136"/>
            <a:ext cx="95097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</a:rPr>
              <a:t>Pin to 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88920"/>
            <a:ext cx="1627632" cy="82296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8346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</a:rPr>
              <a:t>$127.4M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1272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YTD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31927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</a:rPr>
              <a:t>+4.2%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788920"/>
            <a:ext cx="1627632" cy="82296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28346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</a:rPr>
              <a:t>23.4%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31272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EBITDA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331927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C2626"/>
                </a:solidFill>
              </a:rPr>
              <a:t>-1.8pp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2788920"/>
            <a:ext cx="1627632" cy="82296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0208" y="28346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</a:rPr>
              <a:t>84.2%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0208" y="31272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On-Time 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331927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C2626"/>
                </a:solidFill>
              </a:rPr>
              <a:t>-7.8pp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749039"/>
            <a:ext cx="512064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7947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DEC-001  ·  Supply Chain  ·  HIGH 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233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Pre-buy 6-Month Titanium Supply at Current Rates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7997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Bharat Forge lead time +18 days. Lock price before May increase.
Value at stake: $1.1M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01184"/>
            <a:ext cx="100584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9286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 COMMIT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64208" y="4901184"/>
            <a:ext cx="8229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64208" y="4928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⏸ HOLD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1097280"/>
            <a:ext cx="598932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1170432"/>
            <a:ext cx="5715000" cy="13716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120700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⚡ Revenue (KPI-001) — AI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1463040"/>
            <a:ext cx="5440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YTD Revenue $127.4M vs $135M target (94.4%). Gap of $7.6M driven by Bosch re-phasing ($4.1M) and Magna PO delay ($2.8M). Pipeline coverage 2.3× — healthy.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084831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→ Prioritise CEO outreach to Bosch NA this week.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2651760"/>
            <a:ext cx="5715000" cy="126187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2697480"/>
            <a:ext cx="5440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🔴 HIGH  ·  Supply Chain Signal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292608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Chennai Port Congestion — 4–7 Day Transit Delays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320040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3 GIS shipments affected. Expedite routing for PO-8821.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2697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DC2626"/>
                </a:solidFill>
              </a:rPr>
              <a:t>Confidence 91%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050791"/>
            <a:ext cx="5715000" cy="1353312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096512"/>
            <a:ext cx="5440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⚠ DOWNSIDE RISK  ·  Regulatory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32511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EU CBAM Compliance — 32% Ready vs 80% Required Q4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4599432"/>
            <a:ext cx="5440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Non-compliance risks $24M Tier-1 contract renewals.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965192"/>
            <a:ext cx="10058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498348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Escalate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96912" y="4965192"/>
            <a:ext cx="1188720" cy="292608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498348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D4ED8"/>
                </a:solidFill>
              </a:rPr>
              <a:t>View Decision 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The Market Differentiator — Analyst → CEO Intelligence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No BI tool. No dashboard. No AI assistant. Nobody does this.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148840" cy="2560320"/>
          </a:xfrm>
          <a:prstGeom prst="rect">
            <a:avLst/>
          </a:prstGeom>
          <a:solidFill>
            <a:srgbClr val="EDE9FE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7572" y="1188720"/>
            <a:ext cx="402336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7572" y="11887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D28D9"/>
                </a:solidFill>
              </a:rPr>
              <a:t>Analyst types
a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4028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5E"/>
                </a:solidFill>
              </a:rPr>
              <a:t>"What is our Q2 revenue risk?"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2303" y="2286000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1143000"/>
            <a:ext cx="2148840" cy="256032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3571" y="1188720"/>
            <a:ext cx="402336" cy="40233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3571" y="11887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66420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AI synthesises
live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24028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5E"/>
                </a:solidFill>
              </a:rPr>
              <a:t>CRM + ERP + Meetings
→ structured insight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2286000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143000"/>
            <a:ext cx="2148840" cy="25603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9572" y="1188720"/>
            <a:ext cx="402336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2" y="11887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166420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Analyst clicks
Share with CEO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224028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5E"/>
                </a:solidFill>
              </a:rPr>
              <a:t>One click. Instant.
No email. No PowerPoint.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04304" y="2286000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0" y="1143000"/>
            <a:ext cx="2148840" cy="25603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5571" y="1188720"/>
            <a:ext cx="402336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5571" y="11887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166420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CEO sees it in
morning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59" y="224028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5E"/>
                </a:solidFill>
              </a:rPr>
              <a:t>Analyst Intelligence
section — with metrics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90304" y="2286000"/>
            <a:ext cx="10972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18320" y="1143000"/>
            <a:ext cx="2148840" cy="256032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91572" y="1188720"/>
            <a:ext cx="402336" cy="402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1572" y="11887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66420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CEO commits
the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24028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A5E"/>
                </a:solidFill>
              </a:rPr>
              <a:t>Full traceability
in audit log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931920"/>
            <a:ext cx="11640312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005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</a:rPr>
              <a:t>Why This Is Unique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07408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3616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A5E"/>
                </a:solidFill>
              </a:rPr>
              <a:t>Traditional flow: Analyst finds insight → writes report → emails CEO → CEO reads deck 3 days later → decides with stale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974336"/>
            <a:ext cx="10972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9286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SiBoNi flow: Analyst asks question → AI generates insight from live data → one click → CEO sees it in next session → decides same day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541264"/>
            <a:ext cx="10972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49554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Result: 4.8× higher analyst insight utilisation · 73% faster executive decision cycle · Zero report-writing overhead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Competitive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vs Power BI · Tableau · ThoughtSpot · Glean AI · Palantir AIP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11640312" cy="40233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13385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6783" y="113385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⚡ SiBoNi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95544" y="113385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3" y="113385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Tableau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8664" y="113385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ThoughtSpot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5944" y="113385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Glean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3224" y="113385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Palantir AIP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481328"/>
            <a:ext cx="13716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481328"/>
            <a:ext cx="352044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1545336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Real-time multi-source data 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3" y="154533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5544" y="154533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3" y="154533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154533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5944" y="154533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154533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1883664"/>
            <a:ext cx="13716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1883664"/>
            <a:ext cx="3520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1947672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AI-generated executive narrative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86783" y="194767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5544" y="194767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3" y="194767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194767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5944" y="194767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3224" y="194767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2286000"/>
            <a:ext cx="13716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2286000"/>
            <a:ext cx="352044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2350008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28D9"/>
                </a:solidFill>
              </a:rPr>
              <a:t>Analyst → CEO direct push (no email) 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86783" y="235000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95544" y="235000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3" y="235000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98664" y="235000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95944" y="235000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93224" y="235000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2688336"/>
            <a:ext cx="13716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688336"/>
            <a:ext cx="3520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2752344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Natural language prompt over live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86783" y="27523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95544" y="275234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47103" y="275234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98664" y="275234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95944" y="275234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93224" y="275234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3090672"/>
            <a:ext cx="13716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3090672"/>
            <a:ext cx="352044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3154679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Decision tracking with evidence bundles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86783" y="3154679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95544" y="3154679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47103" y="3154679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98664" y="3154679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95944" y="3154679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93224" y="3154679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31920" y="3493008"/>
            <a:ext cx="13716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4320" y="3493008"/>
            <a:ext cx="3520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3557016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COMMIT / HOLD decision workflow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86783" y="355701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95544" y="35570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47103" y="35570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98664" y="35570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95944" y="35570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93224" y="35570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31920" y="3895344"/>
            <a:ext cx="13716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74320" y="3895344"/>
            <a:ext cx="352044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" y="3959352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1-click board brief generation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6783" y="395935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95544" y="395935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47103" y="395935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98664" y="395935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95944" y="395935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93224" y="395935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31920" y="4297680"/>
            <a:ext cx="13716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4297680"/>
            <a:ext cx="3520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7472" y="4361688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Admin-configurable prompt schedules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86783" y="436168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95544" y="436168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47103" y="436168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98664" y="436168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95944" y="436168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93224" y="436168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31920" y="4700016"/>
            <a:ext cx="13716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4320" y="4700016"/>
            <a:ext cx="352044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7472" y="4764024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KPI drill-down: signal / decision / risk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86783" y="476402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95544" y="476402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47103" y="476402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98664" y="476402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95944" y="476402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93224" y="476402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931920" y="5102352"/>
            <a:ext cx="13716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74320" y="5102352"/>
            <a:ext cx="3520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47472" y="5166360"/>
            <a:ext cx="3392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Executive role-based access (no noise)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86783" y="516636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95544" y="51663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47103" y="51663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98664" y="51663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95944" y="51663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93224" y="51663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~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4320" y="647395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✓ Full  ·  ~ Partial / needs config  ·  ✗ Not available  ·  ★ Unique to SiBoNi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Impact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Measured outcomes from SiBoNi deployments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1488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D4ED8"/>
                </a:solidFill>
              </a:rPr>
              <a:t>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Reduction in time
to executive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143000"/>
            <a:ext cx="21488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132588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D28D9"/>
                </a:solidFill>
              </a:rPr>
              <a:t>4.8×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0574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Analyst insight
utilisation by CEO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1143000"/>
            <a:ext cx="21488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82896" y="132588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</a:rPr>
              <a:t>1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20574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Time to first
executive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87184" y="1143000"/>
            <a:ext cx="21488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7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87184" y="132588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7995"/>
                </a:solidFill>
              </a:rPr>
              <a:t>9+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20574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Enterprise systems
connected at 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91472" y="1143000"/>
            <a:ext cx="21488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1472" y="132588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97706"/>
                </a:solidFill>
              </a:rPr>
              <a:t>$0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2" y="20574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Additional BI team
headcount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37560"/>
            <a:ext cx="11274552" cy="1298448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4747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1D4ED8"/>
                </a:solidFill>
              </a:rPr>
              <a:t>"The gap between data and decisions is not a technology problem. It's a communication problem. SiBoNi solves it."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— SiBoNi Product Philosophy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64608"/>
            <a:ext cx="2743200" cy="804672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910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3 days → 60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239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4A5E"/>
                </a:solidFill>
              </a:rPr>
              <a:t>Revenue anomaly detection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4864608"/>
            <a:ext cx="2743200" cy="804672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4910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2 weeks → 2 hrs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239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4A5E"/>
                </a:solidFill>
              </a:rPr>
              <a:t>Competitor response cycle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864608"/>
            <a:ext cx="2743200" cy="804672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4910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2 days → 4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239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4A5E"/>
                </a:solidFill>
              </a:rPr>
              <a:t>Board pack generation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4864608"/>
            <a:ext cx="2743200" cy="804672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4910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3 weeks early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5239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4A5E"/>
                </a:solidFill>
              </a:rPr>
              <a:t>Workforce capacity 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27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Real-World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Six scenarios that demonstrate measurable executive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5778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225295"/>
            <a:ext cx="34747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25295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207008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Morning Revenue Gap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99616"/>
            <a:ext cx="4873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7:00am — System Prompt 'Revenue Anomaly Scan' runs against ERP + CRM. Detects $2.4M shortfall. CEO sees it before first meeting. Calls Magna by 8am.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5394959" cy="30175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313432"/>
            <a:ext cx="5212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⏱ 3 days → 60 minutes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15568"/>
            <a:ext cx="55778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225295"/>
            <a:ext cx="347472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225295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207008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Supply Chain Pre-Buy Authorisation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99616"/>
            <a:ext cx="4873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Analyst detects Titanium lead-time slippage. Shares insight to CEO. CEO clicks COMMIT on DEC-001 with evidence. Procurement authorised same 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79" y="2286000"/>
            <a:ext cx="5394959" cy="30175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7" y="2313432"/>
            <a:ext cx="5212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⚡ $980K decision in 4 hours — averted $1.1M loss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98063"/>
            <a:ext cx="55778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2907791"/>
            <a:ext cx="347472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90779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889503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Board Meeting Preparation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182111"/>
            <a:ext cx="4873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CFO asks for board pack. CEO opens Board Brief — auto-generated from live KPIs, decisions, risks, pinned analyst insights. Clicks Export PDF.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68495"/>
            <a:ext cx="5394959" cy="30175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995927"/>
            <a:ext cx="5212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📋 2 days → 4 minutes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798063"/>
            <a:ext cx="55778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2907791"/>
            <a:ext cx="347472" cy="347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290779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889503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Competitor Pricing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182111"/>
            <a:ext cx="4873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Competitor Monitor detects Bosch 8% price cut. System Prompt fires. CEO sees signal. Requests analyst to model rebate strategy. Shared back same hour.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79" y="3968495"/>
            <a:ext cx="5394959" cy="30175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7" y="3995927"/>
            <a:ext cx="5212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🔍 2-week research cycle → 2 hours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480559"/>
            <a:ext cx="55778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4590288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45902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571999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Workforce Capacity Planning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864607"/>
            <a:ext cx="4873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HR + ERP cross-reference: Detroit at 78% vs 85% threshold. Analyst shares insight: 14 machinists needed by Apr 20, $2.1M overtime risk. CEO authorises staffing.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650991"/>
            <a:ext cx="5394959" cy="30175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678423"/>
            <a:ext cx="5212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👥 Staffing decision 3 weeks earlier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480559"/>
            <a:ext cx="55778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44768" y="4590288"/>
            <a:ext cx="347472" cy="347472"/>
          </a:xfrm>
          <a:prstGeom prst="rect">
            <a:avLst/>
          </a:prstGeom>
          <a:solidFill>
            <a:srgbClr val="027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45902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4571999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Regulatory Compliance Escalation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4864607"/>
            <a:ext cx="4873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A5E"/>
                </a:solidFill>
              </a:rPr>
              <a:t>Risk monitoring: EU CBAM readiness 32% vs 80% required. Analyst escalates. CEO activates $240K compliance programme. Full audit trail in one system.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79" y="5650991"/>
            <a:ext cx="5394959" cy="30175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7" y="5678423"/>
            <a:ext cx="5212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🏛 $24M contract risk addressed 9 months early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33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Built for enterprise. Fast to deploy. Cloud-agnostic.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1640312" cy="841248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09728" cy="8412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43560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React 18 + Vite · Role-based SPA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61872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CEO Cockpit  ·  Analyst Studio  ·  Admin Panel  ·  Insights Hub  ·  Decision Hub  ·  Execution Hub  ·  Board Brief  ·  Signals Console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11680"/>
            <a:ext cx="11640312" cy="841248"/>
          </a:xfrm>
          <a:prstGeom prst="rect">
            <a:avLst/>
          </a:prstGeom>
          <a:solidFill>
            <a:srgbClr val="EDE9FE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109728" cy="8412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</a:rPr>
              <a:t>AI Intelligence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3500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Decision Engine · Prompt Orchestrator · Confidence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176272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System Prompts (scheduled)  ·  Analyst Prompt Builder  ·  Cross-source Fusion Engine  ·  Anomaly Detection  ·  KPI Computation  ·  Signal Scoring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11640312" cy="84124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926080"/>
            <a:ext cx="109728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971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State &amp; Context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32644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React Context · localStorage · Real-time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90672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FilterContext  ·  DecisionStateContext  ·  PromptContext  ·  AuthContext  ·  WorkspaceContext  ·  Full 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11640312" cy="84124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109728" cy="8412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3886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MCP Connector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41788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Model Context Protocol · Unified Schema · Auth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005072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SAP ERP  ·  Salesforce CRM  ·  Workday HR  ·  Reuters  ·  Bloomberg  ·  Exchange  ·  Teams  ·  IoT Sensors  ·  Competitor Feed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754880"/>
            <a:ext cx="11640312" cy="841248"/>
          </a:xfrm>
          <a:prstGeom prst="rect">
            <a:avLst/>
          </a:prstGeom>
          <a:solidFill>
            <a:srgbClr val="F1F5F9"/>
          </a:solidFill>
          <a:ln w="19050">
            <a:solidFill>
              <a:srgbClr val="33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109728" cy="841248"/>
          </a:xfrm>
          <a:prstGeom prst="rect">
            <a:avLst/>
          </a:prstGeom>
          <a:solidFill>
            <a:srgbClr val="33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800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4A5E"/>
                </a:solidFill>
              </a:rP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50932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Cloud-agnostic · Azure / AWS / GCP · SOC 2 Type II · ISO 27001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919472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RBAC Auth  ·  Encryption at rest &amp; transit  ·  Full Audit Log  ·  API Gateway  ·  Edge CDN  ·  Docker / Kubernetes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989320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0807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</a:rPr>
              <a:t>&lt;2s AI latency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06039" y="5989320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79" y="60807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99.9% SLA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59" y="5989320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199" y="60807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D28D9"/>
                </a:solidFill>
              </a:rPr>
              <a:t>SOC 2 Type II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79" y="5989320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19" y="60807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1-day deploy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5989320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60807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ISO 27001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D4ED8"/>
                </a:solidFill>
              </a:rPr>
              <a:t>SiBoNi  CXO Cockpit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Your CEO's morning view starts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Connect your ERP and CRM in under a day. Actionable intelligence by tomorrow morning.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34747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47472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32552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🚀 Pilot in 1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77440"/>
            <a:ext cx="325526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Connect 2 data sources.
Configure first system prompt.
CEO dashboard live by EOD.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977639"/>
            <a:ext cx="32004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95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Free 30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783080"/>
            <a:ext cx="34747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783080"/>
            <a:ext cx="3474720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810512"/>
            <a:ext cx="32552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🎯 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377440"/>
            <a:ext cx="325526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Watch Analyst Studio live:
type → share → CEO sees it.
45-minute session.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977639"/>
            <a:ext cx="320040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995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Book a 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783080"/>
            <a:ext cx="34747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783080"/>
            <a:ext cx="3474720" cy="4754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7" y="1810512"/>
            <a:ext cx="32552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Enterprise Deal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7" y="2377440"/>
            <a:ext cx="325526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Full deployment across all roles.
Custom MCP connectors.
Dedicated success team.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3977639"/>
            <a:ext cx="3200400" cy="3200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3995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Talk to 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90288"/>
            <a:ext cx="11274552" cy="16276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Try it now — demo accounts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56048"/>
            <a:ext cx="3520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992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👑 CEO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760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ceo@gis.com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138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A5E"/>
                </a:solidFill>
              </a:rPr>
              <a:t>ceo123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956048"/>
            <a:ext cx="3520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4992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</a:rPr>
              <a:t>🔬 Analyst Studio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52760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analyst@gis.com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55138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A5E"/>
                </a:solidFill>
              </a:rPr>
              <a:t>analyst123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4956048"/>
            <a:ext cx="3520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7888" y="4992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⚙️ Admin 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52760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admin@gis.com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55138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A5E"/>
                </a:solidFill>
              </a:rPr>
              <a:t>admin123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🔒 SOC 2 Type II  ·  🔐 ISO 27001  ·  ☁️ Cloud-agnostic  ·  ⚡ 1-day deploy  ·  🌍 Multi-region  ·  🏗️ MCP Standard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